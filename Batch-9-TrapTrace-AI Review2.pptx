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257" r:id="rId3"/>
    <p:sldId id="905" r:id="rId4"/>
    <p:sldId id="256" r:id="rId5"/>
    <p:sldId id="904" r:id="rId6"/>
    <p:sldId id="906" r:id="rId7"/>
    <p:sldId id="903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46" autoAdjust="0"/>
    <p:restoredTop sz="94674"/>
  </p:normalViewPr>
  <p:slideViewPr>
    <p:cSldViewPr snapToGrid="0">
      <p:cViewPr varScale="1">
        <p:scale>
          <a:sx n="132" d="100"/>
          <a:sy n="132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394604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r>
                        <a:rPr dirty="0"/>
                        <a:t>TEAM MEMBERS</a:t>
                      </a:r>
                    </a:p>
                    <a:p>
                      <a:r>
                        <a:rPr dirty="0"/>
                        <a:t>1. </a:t>
                      </a:r>
                      <a:r>
                        <a:rPr lang="en-US" dirty="0" err="1"/>
                        <a:t>K.Srikar</a:t>
                      </a:r>
                      <a:r>
                        <a:rPr lang="en-US" dirty="0"/>
                        <a:t>- 2420090111</a:t>
                      </a:r>
                      <a:endParaRPr dirty="0"/>
                    </a:p>
                    <a:p>
                      <a:r>
                        <a:rPr dirty="0"/>
                        <a:t>2. </a:t>
                      </a:r>
                      <a:r>
                        <a:rPr lang="en-US" dirty="0" err="1"/>
                        <a:t>G.Vineet</a:t>
                      </a:r>
                      <a:r>
                        <a:rPr dirty="0"/>
                        <a:t> – </a:t>
                      </a:r>
                      <a:r>
                        <a:rPr lang="en-US" dirty="0"/>
                        <a:t>2420030375</a:t>
                      </a:r>
                      <a:endParaRPr dirty="0"/>
                    </a:p>
                    <a:p>
                      <a:r>
                        <a:rPr dirty="0"/>
                        <a:t>3. </a:t>
                      </a:r>
                      <a:r>
                        <a:rPr lang="en-US" dirty="0" err="1"/>
                        <a:t>M.Rohith</a:t>
                      </a:r>
                      <a:r>
                        <a:rPr dirty="0"/>
                        <a:t> – </a:t>
                      </a:r>
                      <a:r>
                        <a:rPr lang="en-US" dirty="0"/>
                        <a:t>2420030783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878328"/>
              </p:ext>
            </p:extLst>
          </p:nvPr>
        </p:nvGraphicFramePr>
        <p:xfrm>
          <a:off x="-795813" y="4774125"/>
          <a:ext cx="5902325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dirty="0"/>
                        <a:t>UNDER THE GUIDANCE OF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 Neelima Gogineni</a:t>
                      </a:r>
                      <a:endParaRPr dirty="0"/>
                    </a:p>
                    <a:p>
                      <a:r>
                        <a:rPr dirty="0"/>
                        <a:t>Department of Computer Science and Engineering</a:t>
                      </a:r>
                    </a:p>
                    <a:p>
                      <a:r>
                        <a:rPr dirty="0"/>
                        <a:t>KLH CSE </a:t>
                      </a:r>
                      <a:r>
                        <a:rPr dirty="0" err="1"/>
                        <a:t>Bowrampet</a:t>
                      </a:r>
                      <a:r>
                        <a:rPr dirty="0"/>
                        <a:t> Campus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 algn="ctr"/>
            <a:r>
              <a:rPr sz="1100" b="0">
                <a:solidFill>
                  <a:srgbClr val="232323"/>
                </a:solidFill>
                <a:latin typeface="Aptos"/>
              </a:rPr>
              <a:t>20 AUGUST 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 algn="ctr"/>
            <a:r>
              <a:rPr sz="1000" b="0">
                <a:solidFill>
                  <a:srgbClr val="232323"/>
                </a:solidFill>
                <a:latin typeface="Aptos"/>
              </a:rPr>
              <a:t>TRAPTRACE – AI-POWERED SCAM DETECTOR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algn="ctr"/>
            <a:r>
              <a:rPr sz="1000" b="0">
                <a:solidFill>
                  <a:srgbClr val="646464"/>
                </a:solidFill>
                <a:latin typeface="Aptos"/>
              </a:rPr>
              <a:t>1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400" b="1">
                <a:solidFill>
                  <a:srgbClr val="122B46"/>
                </a:solidFill>
                <a:latin typeface="Aptos"/>
              </a:rPr>
              <a:t>TRAPTRACE – AI-POWERED SCAM DETECTOR AND PHISHING MESSAGE DETECTOR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800" b="1" dirty="0">
                <a:solidFill>
                  <a:srgbClr val="E66923"/>
                </a:solidFill>
                <a:latin typeface="Aptos"/>
              </a:rPr>
              <a:t>SOA PROJECT REVIEW –</a:t>
            </a:r>
            <a:r>
              <a:rPr lang="en-US" b="1" dirty="0">
                <a:solidFill>
                  <a:srgbClr val="E66923"/>
                </a:solidFill>
                <a:latin typeface="Aptos"/>
              </a:rPr>
              <a:t>2</a:t>
            </a:r>
            <a:endParaRPr sz="1800" b="1" dirty="0">
              <a:solidFill>
                <a:srgbClr val="E6692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B46"/>
                </a:solidFill>
                <a:latin typeface="Aptos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325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900" b="1">
                <a:solidFill>
                  <a:srgbClr val="E66923"/>
                </a:solidFill>
                <a:latin typeface="Aptos"/>
              </a:rPr>
              <a:t>WHY TRAPTRACE?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34290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Scam and phishing messages increasingly use deceptive language, urgency, impersonation and malicious links.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Traditional blacklist and rule-based approaches may miss newly generated or obfuscated threats.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Users often cannot determine whether a suspicious message or URL is safe before interacting with it.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Many solutions focus on a single threat vector instead of combining message and URL analysis.</a:t>
            </a:r>
          </a:p>
          <a:p>
            <a:pPr>
              <a:spcAft>
                <a:spcPts val="800"/>
              </a:spcAft>
            </a:pPr>
            <a:r>
              <a:rPr sz="1750" b="0">
                <a:solidFill>
                  <a:srgbClr val="232323"/>
                </a:solidFill>
                <a:latin typeface="Aptos"/>
              </a:rPr>
              <a:t>A practical system is needed to provide fast, understandable and AI-assisted threat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10332720" cy="502920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1650" b="1">
                <a:solidFill>
                  <a:srgbClr val="1F4E79"/>
                </a:solidFill>
                <a:latin typeface="Aptos"/>
              </a:rPr>
              <a:t>Proposed direction: combine NLP + ML/DL + URL feature analysis in one web platform.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F0836-4F22-C644-4423-C15DA4808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Web Page Symbol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CA6DD-7E02-0B72-0848-4334AC711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3" y="2465242"/>
            <a:ext cx="11327549" cy="232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0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6265F-DC2D-9C64-C137-5FAE869FC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242" y="198339"/>
            <a:ext cx="9144000" cy="292550"/>
          </a:xfrm>
        </p:spPr>
        <p:txBody>
          <a:bodyPr>
            <a:noAutofit/>
          </a:bodyPr>
          <a:lstStyle/>
          <a:p>
            <a:r>
              <a:rPr lang="en-US" sz="1800" dirty="0"/>
              <a:t>TrapeTrase Excition – Live Scanner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C3D31-A4BE-C490-A63D-7087284CA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758" y="2329314"/>
            <a:ext cx="9144000" cy="22715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9B3782-09F5-186B-A674-930F0D94C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13" y="490889"/>
            <a:ext cx="11415561" cy="616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2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5FEA-2DEF-F10A-C8D4-A846E0481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8872" y="288757"/>
            <a:ext cx="9144000" cy="452388"/>
          </a:xfrm>
        </p:spPr>
        <p:txBody>
          <a:bodyPr>
            <a:normAutofit/>
          </a:bodyPr>
          <a:lstStyle/>
          <a:p>
            <a:r>
              <a:rPr lang="en-US" sz="1800" dirty="0"/>
              <a:t>TrapeTrace – Link Auditor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55AD6-FC88-741F-3ED2-1BCE6F52EA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53826-7DEF-BCE0-15A6-4A264611D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792186"/>
            <a:ext cx="11261558" cy="57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5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6E77-A06F-BDF0-484A-94A8BA27A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2599"/>
            <a:ext cx="9144000" cy="244424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50B15-084A-F55F-BC21-738208834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996" y="1243848"/>
            <a:ext cx="9144000" cy="1277971"/>
          </a:xfrm>
        </p:spPr>
        <p:txBody>
          <a:bodyPr>
            <a:normAutofit fontScale="25000" lnSpcReduction="20000"/>
          </a:bodyPr>
          <a:lstStyle/>
          <a:p>
            <a:pPr marL="914400" indent="-9144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             Data Collection:</a:t>
            </a:r>
            <a:r>
              <a:rPr lang="en-IN" sz="5600" dirty="0"/>
              <a:t> Collect scam-related data from URLs, messages, emails, and online sources. </a:t>
            </a:r>
          </a:p>
          <a:p>
            <a:pPr marL="1371600" indent="-13716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Data Preprocessing:</a:t>
            </a:r>
            <a:r>
              <a:rPr lang="en-IN" sz="5600" dirty="0"/>
              <a:t> Clean and normalize the collected data to remove unnecessary or duplicate information. </a:t>
            </a:r>
          </a:p>
          <a:p>
            <a:pPr marL="1371600" indent="-13716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Feature Extraction:</a:t>
            </a:r>
            <a:r>
              <a:rPr lang="en-IN" sz="5600" dirty="0"/>
              <a:t> Identify suspicious patterns such as fake links, misleading keywords, and unusual domains. </a:t>
            </a:r>
          </a:p>
          <a:p>
            <a:pPr marL="1371600" indent="-13716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Scam Detection:</a:t>
            </a:r>
            <a:r>
              <a:rPr lang="en-IN" sz="5600" dirty="0"/>
              <a:t> Apply rule-based techniques and machine-learning models to </a:t>
            </a:r>
            <a:r>
              <a:rPr lang="en-IN" sz="5600" dirty="0" err="1"/>
              <a:t>analyze</a:t>
            </a:r>
            <a:r>
              <a:rPr lang="en-IN" sz="5600" dirty="0"/>
              <a:t> the extracted features. </a:t>
            </a:r>
          </a:p>
          <a:p>
            <a:pPr marL="1371600" indent="-13716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Risk Analysis:</a:t>
            </a:r>
            <a:r>
              <a:rPr lang="en-IN" sz="5600" dirty="0"/>
              <a:t> Assign a risk score based on the number and severity of detected scam indicators. </a:t>
            </a:r>
          </a:p>
          <a:p>
            <a:pPr marL="1371600" indent="-13716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URL Verification:</a:t>
            </a:r>
            <a:r>
              <a:rPr lang="en-IN" sz="5600" dirty="0"/>
              <a:t> Check domain details, SSL status, redirects, and other website security characteristics. </a:t>
            </a:r>
          </a:p>
          <a:p>
            <a:pPr marL="1371600" indent="-13716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Message Analysis:</a:t>
            </a:r>
            <a:r>
              <a:rPr lang="en-IN" sz="5600" dirty="0"/>
              <a:t> Scan user-provided messages for phishing, fraud, and social-engineering patterns. </a:t>
            </a:r>
          </a:p>
          <a:p>
            <a:pPr marL="1371600" indent="-13716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Result Generation:</a:t>
            </a:r>
            <a:r>
              <a:rPr lang="en-IN" sz="5600" dirty="0"/>
              <a:t> Display whether the content is </a:t>
            </a:r>
            <a:r>
              <a:rPr lang="en-IN" sz="5600" b="1" dirty="0"/>
              <a:t>Safe, Suspicious, or Scam</a:t>
            </a:r>
            <a:r>
              <a:rPr lang="en-IN" sz="5600" dirty="0"/>
              <a:t> with supporting reasons. </a:t>
            </a:r>
          </a:p>
          <a:p>
            <a:pPr marL="1371600" indent="-13716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User Interface:</a:t>
            </a:r>
            <a:r>
              <a:rPr lang="en-IN" sz="5600" dirty="0"/>
              <a:t> Provide an interactive website where users can easily submit URLs or text for analysis. </a:t>
            </a:r>
          </a:p>
          <a:p>
            <a:pPr marL="1371600" indent="-1371600" algn="l">
              <a:lnSpc>
                <a:spcPct val="120000"/>
              </a:lnSpc>
              <a:buFont typeface="+mj-lt"/>
              <a:buAutoNum type="arabicPeriod"/>
            </a:pPr>
            <a:r>
              <a:rPr lang="en-IN" sz="5600" b="1" dirty="0"/>
              <a:t>Testing &amp; Deployment:</a:t>
            </a:r>
            <a:r>
              <a:rPr lang="en-IN" sz="5600" dirty="0"/>
              <a:t> Test the system with different scam cases and deploy the verified application for public 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33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B46"/>
                </a:solidFill>
                <a:latin typeface="Aptos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325880"/>
            <a:ext cx="10332720" cy="45720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Develop an AI-based system to classify scam and phishing messages.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Apply NLP preprocessing and feature extraction using NLTK and </a:t>
            </a:r>
            <a:r>
              <a:rPr sz="1650" b="0" dirty="0" err="1">
                <a:solidFill>
                  <a:srgbClr val="232323"/>
                </a:solidFill>
                <a:latin typeface="Aptos"/>
              </a:rPr>
              <a:t>spaCy</a:t>
            </a:r>
            <a:r>
              <a:rPr sz="1650" b="0" dirty="0">
                <a:solidFill>
                  <a:srgbClr val="232323"/>
                </a:solidFill>
                <a:latin typeface="Aptos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Use Scikit-learn, </a:t>
            </a:r>
            <a:r>
              <a:rPr sz="1650" b="0" dirty="0" err="1">
                <a:solidFill>
                  <a:srgbClr val="232323"/>
                </a:solidFill>
                <a:latin typeface="Aptos"/>
              </a:rPr>
              <a:t>PyTorch</a:t>
            </a:r>
            <a:r>
              <a:rPr sz="1650" b="0" dirty="0">
                <a:solidFill>
                  <a:srgbClr val="232323"/>
                </a:solidFill>
                <a:latin typeface="Aptos"/>
              </a:rPr>
              <a:t> and Hugging Face Transformers for intelligent classification.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Analyze suspicious URLs using lexical and structural characteristics.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Generate a clear threat category and risk assessment for the user.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Provide secure user authentication using JWT and store detection history in MySQL.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Build a responsive </a:t>
            </a:r>
            <a:r>
              <a:rPr sz="1650" b="0" dirty="0" err="1">
                <a:solidFill>
                  <a:srgbClr val="232323"/>
                </a:solidFill>
                <a:latin typeface="Aptos"/>
              </a:rPr>
              <a:t>React.js</a:t>
            </a:r>
            <a:r>
              <a:rPr sz="1650" b="0" dirty="0">
                <a:solidFill>
                  <a:srgbClr val="232323"/>
                </a:solidFill>
                <a:latin typeface="Aptos"/>
              </a:rPr>
              <a:t> frontend connected to </a:t>
            </a:r>
            <a:r>
              <a:rPr sz="1650" b="0" dirty="0" err="1">
                <a:solidFill>
                  <a:srgbClr val="232323"/>
                </a:solidFill>
                <a:latin typeface="Aptos"/>
              </a:rPr>
              <a:t>FastAPI</a:t>
            </a:r>
            <a:r>
              <a:rPr sz="1650" b="0" dirty="0">
                <a:solidFill>
                  <a:srgbClr val="232323"/>
                </a:solidFill>
                <a:latin typeface="Aptos"/>
              </a:rPr>
              <a:t> REST APIs.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232323"/>
                </a:solidFill>
                <a:latin typeface="Aptos"/>
              </a:rPr>
              <a:t>Support testing, containerization and cloud deployment using Postman, Docker and AWS.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B46"/>
                </a:solidFill>
                <a:latin typeface="Aptos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325880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SINGLE-VECTOR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307592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Many approaches emphasize only URLs, websites, or email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EVOLVING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48840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Blacklists and static rules can struggle with new or obfuscated threats.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08376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CONTEXT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90088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Keyword-only methods may miss the intent and context of deceptive messages.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9624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31336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Users need understandable reasons for why content is classified as risky.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90872"/>
            <a:ext cx="2514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PRACTICAL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672584"/>
            <a:ext cx="7406640" cy="56692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50" b="0">
                <a:solidFill>
                  <a:srgbClr val="232323"/>
                </a:solidFill>
                <a:latin typeface="Aptos"/>
              </a:rPr>
              <a:t>A unified system is needed for AI detection, authentication, history and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50" b="1">
                <a:solidFill>
                  <a:srgbClr val="E66923"/>
                </a:solidFill>
                <a:latin typeface="Aptos"/>
              </a:rPr>
              <a:t>TrapTrace addresses the gap by integrating message + URL analysis with modern NLP/AI models in a single platform.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B46"/>
                </a:solidFill>
                <a:latin typeface="Aptos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17320"/>
            <a:ext cx="3154680" cy="594360"/>
          </a:xfrm>
          <a:prstGeom prst="rect">
            <a:avLst/>
          </a:prstGeom>
          <a:solidFill>
            <a:srgbClr val="E66923"/>
          </a:solidFill>
          <a:ln>
            <a:solidFill>
              <a:srgbClr val="E66923"/>
            </a:solidFill>
          </a:ln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063240" cy="32461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AI-powered scam and phishing message classification.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Combines NLP, ML and deep-learning approaches.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Risk-oriented output for suspicious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417320"/>
            <a:ext cx="3154680" cy="594360"/>
          </a:xfrm>
          <a:prstGeom prst="rect">
            <a:avLst/>
          </a:prstGeom>
          <a:solidFill>
            <a:srgbClr val="E66923"/>
          </a:solidFill>
          <a:ln>
            <a:solidFill>
              <a:srgbClr val="E66923"/>
            </a:solidFill>
          </a:ln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CREATIVITY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48840"/>
            <a:ext cx="3063240" cy="32461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Simple interface for submitting messages or URLs.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Highlights suspicious patterns and indicators.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Detection history helps users review previous analyses.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417320"/>
            <a:ext cx="3154680" cy="594360"/>
          </a:xfrm>
          <a:prstGeom prst="rect">
            <a:avLst/>
          </a:prstGeom>
          <a:solidFill>
            <a:srgbClr val="E66923"/>
          </a:solidFill>
          <a:ln>
            <a:solidFill>
              <a:srgbClr val="E66923"/>
            </a:solidFill>
          </a:ln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NOVELTY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48840"/>
            <a:ext cx="3063240" cy="32461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Unified message + phishing URL detection.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Transformer-based language analysis can capture context.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232323"/>
                </a:solidFill>
                <a:latin typeface="Aptos"/>
              </a:rPr>
              <a:t>Designed as a deployable full-stack cybersecurity application.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2B46"/>
                </a:solidFill>
                <a:latin typeface="Aptos"/>
              </a:rPr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325880"/>
            <a:ext cx="36576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657600" cy="31546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232323"/>
                </a:solidFill>
                <a:latin typeface="Aptos"/>
              </a:rPr>
              <a:t>Technical: Python, FastAPI, React.js and AI/ML stack are practical for a student prototype.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232323"/>
                </a:solidFill>
                <a:latin typeface="Aptos"/>
              </a:rPr>
              <a:t>Data: public phishing/scam datasets can support training and evaluation.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232323"/>
                </a:solidFill>
                <a:latin typeface="Aptos"/>
              </a:rPr>
              <a:t>Operational: web interface provides a simple workflow for end users.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232323"/>
                </a:solidFill>
                <a:latin typeface="Aptos"/>
              </a:rPr>
              <a:t>Deployment: Docker and AWS support reproducible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949440" cy="457200"/>
          </a:xfrm>
          <a:prstGeom prst="rect">
            <a:avLst/>
          </a:prstGeom>
          <a:solidFill>
            <a:srgbClr val="E66923"/>
          </a:solidFill>
          <a:ln>
            <a:solidFill>
              <a:srgbClr val="E66923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PROJECT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1. Research &amp;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901952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86584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2. Data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386584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71216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3. ML/DL Model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871216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5–7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55848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4. FastAPI +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3355848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8–9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5. React Frontend &amp;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3840480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Weeks 10–11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25112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6. Testing &amp;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325112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09744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7. Docker + AWS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809744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94376"/>
            <a:ext cx="5074920" cy="356616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ptos"/>
              </a:rPr>
              <a:t>8. Documentation &amp; Final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5294376"/>
            <a:ext cx="1508760" cy="356616"/>
          </a:xfrm>
          <a:prstGeom prst="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1F4E79"/>
                </a:solidFill>
                <a:latin typeface="Aptos"/>
              </a:rPr>
              <a:t>Week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9240"/>
            <a:ext cx="10698480" cy="384048"/>
          </a:xfrm>
          <a:prstGeom prst="rect">
            <a:avLst/>
          </a:prstGeom>
          <a:solidFill>
            <a:srgbClr val="F5F8FB"/>
          </a:solidFill>
          <a:ln>
            <a:solidFill>
              <a:srgbClr val="DCE1E6"/>
            </a:solidFill>
          </a:ln>
        </p:spPr>
        <p:txBody>
          <a:bodyPr wrap="square" lIns="45720" rIns="45720">
            <a:spAutoFit/>
          </a:bodyPr>
          <a:lstStyle/>
          <a:p>
            <a:pPr algn="ctr"/>
            <a:r>
              <a:rPr sz="1080" b="1">
                <a:solidFill>
                  <a:srgbClr val="122B46"/>
                </a:solidFill>
                <a:latin typeface="Aptos"/>
              </a:rPr>
              <a:t>Future Work: real-time threat intelligence • multilingual detection • browser/email integration • continual learning • explainable AI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759</Words>
  <Application>Microsoft Macintosh PowerPoint</Application>
  <PresentationFormat>Widescreen</PresentationFormat>
  <Paragraphs>96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Web Page Symbol</vt:lpstr>
      <vt:lpstr>TrapeTrase Excition – Live Scanner</vt:lpstr>
      <vt:lpstr>TrapeTrace – Link Auditor</vt:lpstr>
      <vt:lpstr>METHODLOGY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KARNATI SRIKAR 2420090111</cp:lastModifiedBy>
  <cp:revision>37</cp:revision>
  <dcterms:created xsi:type="dcterms:W3CDTF">2026-08-08T06:33:56Z</dcterms:created>
  <dcterms:modified xsi:type="dcterms:W3CDTF">2026-09-22T09:16:24Z</dcterms:modified>
</cp:coreProperties>
</file>